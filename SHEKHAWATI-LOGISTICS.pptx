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0" r:id="rId9"/>
    <p:sldId id="263" r:id="rId10"/>
    <p:sldId id="261" r:id="rId11"/>
    <p:sldId id="262" r:id="rId12"/>
  </p:sldIdLst>
  <p:sldSz cx="12192000" cy="6858000"/>
  <p:notesSz cx="6858000" cy="12192000"/>
  <p:embeddedFontLst>
    <p:embeddedFont>
      <p:font typeface="Cabin Bold" panose="020B0604020202020204" charset="0"/>
      <p:regular r:id="rId14"/>
    </p:embeddedFont>
    <p:embeddedFont>
      <p:font typeface="Unbounded" panose="020B0604020202020204" charset="0"/>
      <p:regular r:id="rId15"/>
    </p:embeddedFont>
    <p:embeddedFont>
      <p:font typeface="Cabin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28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1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77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975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8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3452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2.svg"/><Relationship Id="rId5" Type="http://schemas.openxmlformats.org/officeDocument/2006/relationships/image" Target="../media/image-2-2.sv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7.svg"/><Relationship Id="rId13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-3-1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3-5.svg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5" Type="http://schemas.openxmlformats.org/officeDocument/2006/relationships/image" Target="../media/image13.jpg"/><Relationship Id="rId10" Type="http://schemas.openxmlformats.org/officeDocument/2006/relationships/image" Target="../media/image-3-9.svg"/><Relationship Id="rId4" Type="http://schemas.openxmlformats.org/officeDocument/2006/relationships/image" Target="../media/image-3-3.svg"/><Relationship Id="rId9" Type="http://schemas.openxmlformats.org/officeDocument/2006/relationships/image" Target="../media/image10.png"/><Relationship Id="rId14" Type="http://schemas.openxmlformats.org/officeDocument/2006/relationships/image" Target="../media/image-3-1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g"/><Relationship Id="rId5" Type="http://schemas.openxmlformats.org/officeDocument/2006/relationships/image" Target="../media/image16.jpeg"/><Relationship Id="rId10" Type="http://schemas.openxmlformats.org/officeDocument/2006/relationships/image" Target="../media/image5.png"/><Relationship Id="rId4" Type="http://schemas.openxmlformats.org/officeDocument/2006/relationships/image" Target="../media/image15.jpg"/><Relationship Id="rId9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10" Type="http://schemas.openxmlformats.org/officeDocument/2006/relationships/image" Target="../media/image31.jpe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png"/><Relationship Id="rId3" Type="http://schemas.openxmlformats.org/officeDocument/2006/relationships/image" Target="../media/image40.jpg"/><Relationship Id="rId7" Type="http://schemas.openxmlformats.org/officeDocument/2006/relationships/image" Target="../media/image-5-3.sv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3.svg"/><Relationship Id="rId11" Type="http://schemas.openxmlformats.org/officeDocument/2006/relationships/image" Target="../media/image-5-3.svg"/><Relationship Id="rId5" Type="http://schemas.openxmlformats.org/officeDocument/2006/relationships/image" Target="../media/image-5-3.svg"/><Relationship Id="rId4" Type="http://schemas.openxmlformats.org/officeDocument/2006/relationships/image" Target="../media/image41.png"/><Relationship Id="rId9" Type="http://schemas.openxmlformats.org/officeDocument/2006/relationships/image" Target="../media/image-5-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7" Type="http://schemas.openxmlformats.org/officeDocument/2006/relationships/image" Target="../media/image-5-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5-3.svg"/><Relationship Id="rId11" Type="http://schemas.openxmlformats.org/officeDocument/2006/relationships/image" Target="../media/image5.png"/><Relationship Id="rId5" Type="http://schemas.openxmlformats.org/officeDocument/2006/relationships/image" Target="../media/image-5-3.svg"/><Relationship Id="rId10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-5-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000"/>
                    </a14:imgEffect>
                    <a14:imgEffect>
                      <a14:saturation sat="10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3728" y="2100736"/>
            <a:ext cx="4588292" cy="415977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ext 0"/>
          <p:cNvSpPr/>
          <p:nvPr/>
        </p:nvSpPr>
        <p:spPr>
          <a:xfrm>
            <a:off x="698086" y="151055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SHEKHAWATI</a:t>
            </a: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36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LOGISTICS</a:t>
            </a:r>
            <a:endParaRPr lang="en-US" sz="3650" u="sng" dirty="0"/>
          </a:p>
        </p:txBody>
      </p:sp>
      <p:sp>
        <p:nvSpPr>
          <p:cNvPr id="3" name="Text 1"/>
          <p:cNvSpPr/>
          <p:nvPr/>
        </p:nvSpPr>
        <p:spPr>
          <a:xfrm>
            <a:off x="786892" y="2154115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Delivering Trust Across India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86892" y="2746860"/>
            <a:ext cx="1363033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5" name="Text 3"/>
          <p:cNvSpPr/>
          <p:nvPr/>
        </p:nvSpPr>
        <p:spPr>
          <a:xfrm>
            <a:off x="871563" y="2816164"/>
            <a:ext cx="1733308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FLEET OWNERS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234596" y="2756155"/>
            <a:ext cx="2254194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7" name="Text 5"/>
          <p:cNvSpPr/>
          <p:nvPr/>
        </p:nvSpPr>
        <p:spPr>
          <a:xfrm>
            <a:off x="2280486" y="2821550"/>
            <a:ext cx="2624469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TRANSPORT CONTRACTORS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3461" y="2744909"/>
            <a:ext cx="1837188" cy="303113"/>
          </a:xfrm>
          <a:prstGeom prst="roundRect">
            <a:avLst>
              <a:gd name="adj" fmla="val 7897"/>
            </a:avLst>
          </a:prstGeom>
          <a:solidFill>
            <a:srgbClr val="054842"/>
          </a:solidFill>
          <a:ln/>
        </p:spPr>
      </p:sp>
      <p:sp>
        <p:nvSpPr>
          <p:cNvPr id="9" name="Text 7"/>
          <p:cNvSpPr/>
          <p:nvPr/>
        </p:nvSpPr>
        <p:spPr>
          <a:xfrm>
            <a:off x="4704863" y="2821550"/>
            <a:ext cx="220746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COMMISSION AGENTS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6892" y="3179889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u="sng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Head Office: 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Bangalore, </a:t>
            </a:r>
            <a:r>
              <a:rPr lang="en-US" sz="155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Karnataka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13" name="TextBox 12"/>
          <p:cNvSpPr txBox="1"/>
          <p:nvPr/>
        </p:nvSpPr>
        <p:spPr>
          <a:xfrm>
            <a:off x="712277" y="3673960"/>
            <a:ext cx="5298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Cabin" panose="020B0604020202020204" charset="0"/>
              </a:rPr>
              <a:t>With </a:t>
            </a:r>
            <a:r>
              <a:rPr lang="en-US" b="1" u="sng" dirty="0" smtClean="0">
                <a:solidFill>
                  <a:schemeClr val="bg1">
                    <a:lumMod val="85000"/>
                  </a:schemeClr>
                </a:solidFill>
                <a:latin typeface="Cabin" panose="020B0604020202020204" charset="0"/>
              </a:rPr>
              <a:t>Mr. K. S Shekhawat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Cabin" panose="020B0604020202020204" charset="0"/>
              </a:rPr>
              <a:t>experiences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bin" panose="020B0604020202020204" charset="0"/>
              </a:rPr>
              <a:t>in handling </a:t>
            </a:r>
            <a:r>
              <a:rPr lang="en-US" b="1" dirty="0">
                <a:solidFill>
                  <a:schemeClr val="bg1">
                    <a:lumMod val="85000"/>
                  </a:schemeClr>
                </a:solidFill>
                <a:latin typeface="Cabin" panose="020B0604020202020204" charset="0"/>
              </a:rPr>
              <a:t>general cargo, heavy consignments, Over Dimensional Consignments (ODC), project cargo and specialized transportation requirements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bin" panose="020B0604020202020204" charset="0"/>
              </a:rPr>
              <a:t>, we offer a wide range of vehicles to meet diverse customer </a:t>
            </a:r>
            <a:r>
              <a:rPr lang="en-US" dirty="0" smtClean="0">
                <a:solidFill>
                  <a:schemeClr val="bg1">
                    <a:lumMod val="85000"/>
                  </a:schemeClr>
                </a:solidFill>
                <a:latin typeface="Cabin" panose="020B0604020202020204" charset="0"/>
              </a:rPr>
              <a:t>needs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bin" panose="020B0604020202020204" charset="0"/>
              </a:rPr>
              <a:t>.</a:t>
            </a:r>
            <a:endParaRPr lang="en-IN" dirty="0">
              <a:latin typeface="Cabin" panose="020B060402020202020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9805" y="6353680"/>
            <a:ext cx="1112196" cy="50432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30" y="6167336"/>
            <a:ext cx="1386960" cy="63173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26790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Who We </a:t>
            </a:r>
            <a:r>
              <a:rPr lang="en-US" sz="3650" b="1" u="sng" dirty="0" smtClean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Are ?</a:t>
            </a:r>
            <a:endParaRPr lang="en-US" sz="3650" b="1" u="sng" dirty="0"/>
          </a:p>
        </p:txBody>
      </p:sp>
      <p:sp>
        <p:nvSpPr>
          <p:cNvPr id="3" name="Text 1"/>
          <p:cNvSpPr/>
          <p:nvPr/>
        </p:nvSpPr>
        <p:spPr>
          <a:xfrm>
            <a:off x="593969" y="1892102"/>
            <a:ext cx="10905891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Shekhawati Logistics is a premier, Bangalore-headquartered transportation and logistics company with a robust pan-India network</a:t>
            </a: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73261" y="2714872"/>
            <a:ext cx="3465525" cy="24585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930822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 smtClean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 Are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3305768"/>
            <a:ext cx="291427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Proud Fleet Owners, Transport Contractors, and Commission Agents specializing in seamless freight movement.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138211" y="3158730"/>
            <a:ext cx="3465525" cy="245854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01887" y="3500835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We Handle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01887" y="3853718"/>
            <a:ext cx="2914279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From standard Full Truck Loads (FTL) to complex Over Dimensional Cargo (ODC), leveraging our extensive fleet and deep industry expertise.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818986" y="3572669"/>
            <a:ext cx="3465624" cy="24585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48280" y="3818372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 Promise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252807" y="4313573"/>
            <a:ext cx="291437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Strategically located branches across India guarantee rapid response, live tracking, and reliable supply chain solutions.</a:t>
            </a:r>
            <a:endParaRPr lang="en-US" sz="15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30" y="6517110"/>
            <a:ext cx="1386960" cy="281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086" y="3916859"/>
            <a:ext cx="10795524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We Offer</a:t>
            </a:r>
            <a:endParaRPr lang="en-US" sz="2500" b="1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98086" y="4461570"/>
            <a:ext cx="342792" cy="3428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58648" y="4461570"/>
            <a:ext cx="4878265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Full Truck Load (FTL)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1158648" y="4719737"/>
            <a:ext cx="4878265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Daily services across all major routes in India.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154683" y="4461570"/>
            <a:ext cx="342792" cy="3428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15245" y="4461570"/>
            <a:ext cx="4878365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Over Dimensional Cargo (ODC)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615245" y="4719737"/>
            <a:ext cx="4878365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Expert handling of heavy, over-sized, and project consignments.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98086" y="5093295"/>
            <a:ext cx="342792" cy="3428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8648" y="5093295"/>
            <a:ext cx="4878265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Fleet &amp; Vehicle Supply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1158648" y="5351462"/>
            <a:ext cx="4878265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wide range of vehicles from pick-ups to heavy trailers.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154683" y="5093295"/>
            <a:ext cx="342792" cy="34280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615245" y="5093295"/>
            <a:ext cx="4878365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Containerized Shipping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6615245" y="5351462"/>
            <a:ext cx="4878365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Secure transport via 20 FT to 32 FT containers, including SXL &amp; MXL configurations.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98086" y="5725021"/>
            <a:ext cx="342792" cy="342801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158648" y="5725021"/>
            <a:ext cx="4878265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Transport Contracting &amp; Commission Agency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1158648" y="5983188"/>
            <a:ext cx="4878265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End-to-end logistics management.</a:t>
            </a:r>
            <a:endParaRPr lang="en-US" sz="10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154683" y="5725021"/>
            <a:ext cx="342792" cy="34280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6615245" y="5725021"/>
            <a:ext cx="4878365" cy="201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GPS Tracking</a:t>
            </a:r>
            <a:endParaRPr lang="en-US" sz="1250" dirty="0"/>
          </a:p>
        </p:txBody>
      </p:sp>
      <p:sp>
        <p:nvSpPr>
          <p:cNvPr id="21" name="Text 12"/>
          <p:cNvSpPr/>
          <p:nvPr/>
        </p:nvSpPr>
        <p:spPr>
          <a:xfrm>
            <a:off x="6615245" y="5983188"/>
            <a:ext cx="4878365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100% monitored fleet for real-time visibility and safety.</a:t>
            </a:r>
            <a:endParaRPr lang="en-US" sz="105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212" y="70339"/>
            <a:ext cx="10264397" cy="373708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30" y="6517110"/>
            <a:ext cx="1386960" cy="281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3888"/>
            <a:ext cx="10795524" cy="476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 Fleet Strength</a:t>
            </a:r>
            <a:endParaRPr lang="en-US" sz="3000" u="sng" dirty="0"/>
          </a:p>
        </p:txBody>
      </p:sp>
      <p:sp>
        <p:nvSpPr>
          <p:cNvPr id="3" name="Text 1"/>
          <p:cNvSpPr/>
          <p:nvPr/>
        </p:nvSpPr>
        <p:spPr>
          <a:xfrm>
            <a:off x="698086" y="1363960"/>
            <a:ext cx="11405108" cy="23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comprehensive fleet engineered for every freight requirement — from last-mile delivery to heavy project cargo.</a:t>
            </a:r>
            <a:endParaRPr lang="en-US" sz="125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80" y="1747143"/>
            <a:ext cx="1446913" cy="9231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834878"/>
            <a:ext cx="2575357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Pick-up Vehicles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98086" y="3152180"/>
            <a:ext cx="2575357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For quick local distribution and last-mile delivery.</a:t>
            </a:r>
            <a:endParaRPr lang="en-US" sz="1250" dirty="0"/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042" y="1771589"/>
            <a:ext cx="1493701" cy="8742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8042" y="2834878"/>
            <a:ext cx="2575456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chemeClr val="tx2">
                    <a:lumMod val="20000"/>
                    <a:lumOff val="80000"/>
                  </a:schemeClr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19 FT Canter</a:t>
            </a:r>
            <a:endParaRPr lang="en-US" sz="15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 5"/>
          <p:cNvSpPr/>
          <p:nvPr/>
        </p:nvSpPr>
        <p:spPr>
          <a:xfrm>
            <a:off x="3438042" y="3152180"/>
            <a:ext cx="2575456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Ideal for medium-sized loads and intercity distributions.</a:t>
            </a:r>
            <a:endParaRPr lang="en-US" sz="1250" dirty="0"/>
          </a:p>
        </p:txBody>
      </p:sp>
      <p:pic>
        <p:nvPicPr>
          <p:cNvPr id="10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78098" y="1677987"/>
            <a:ext cx="2460064" cy="11568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78098" y="2834878"/>
            <a:ext cx="2575456" cy="476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Containers </a:t>
            </a: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(20 FT – 32 FT</a:t>
            </a: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)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178098" y="3390503"/>
            <a:ext cx="2575456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SXL and MXL options for secure, weather-proof transport.</a:t>
            </a:r>
            <a:endParaRPr lang="en-US" sz="1250" dirty="0"/>
          </a:p>
        </p:txBody>
      </p:sp>
      <p:pic>
        <p:nvPicPr>
          <p:cNvPr id="13" name="Imag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438" y="1747143"/>
            <a:ext cx="1534900" cy="9231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18153" y="2834878"/>
            <a:ext cx="2575456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40 FT Trailer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8918153" y="3152180"/>
            <a:ext cx="2575456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Standard heavy-duty haulage for bulk cargo.</a:t>
            </a:r>
            <a:endParaRPr lang="en-US" sz="1250" dirty="0"/>
          </a:p>
        </p:txBody>
      </p:sp>
      <p:pic>
        <p:nvPicPr>
          <p:cNvPr id="16" name="Imag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05" y="3906144"/>
            <a:ext cx="2056717" cy="114091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8086" y="5211663"/>
            <a:ext cx="2575357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50 FT &amp; 60 FT Trailers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698086" y="5528965"/>
            <a:ext cx="2575357" cy="470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High-capacity movement for large volume consignments.</a:t>
            </a:r>
            <a:endParaRPr lang="en-US" sz="1250" dirty="0"/>
          </a:p>
        </p:txBody>
      </p:sp>
      <p:pic>
        <p:nvPicPr>
          <p:cNvPr id="19" name="Imag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248" y="3881698"/>
            <a:ext cx="2203321" cy="116536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438042" y="5211663"/>
            <a:ext cx="2575456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Low Bed &amp; Heavy ODC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3438042" y="5528965"/>
            <a:ext cx="2575456" cy="705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Specialized for heavy machinery, project cargo, and over-dimensional consignments.</a:t>
            </a:r>
            <a:endParaRPr lang="en-US" sz="125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2095" y="3881698"/>
            <a:ext cx="2624664" cy="114091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0640" y="5114229"/>
            <a:ext cx="3122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32 FT JCB SXL &amp; MXL Trucks</a:t>
            </a:r>
            <a:endParaRPr lang="en-IN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639" y="5483561"/>
            <a:ext cx="3509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open-body platform truck primarily used for transporting construction machinery like backhoe </a:t>
            </a:r>
            <a:r>
              <a:rPr lang="en-US" sz="125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loaders</a:t>
            </a:r>
            <a:r>
              <a:rPr 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(JCBs), excavators, and oversized cargo across India</a:t>
            </a:r>
            <a:endParaRPr lang="en-IN" sz="1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30" y="6517110"/>
            <a:ext cx="1386960" cy="281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2116" y="38281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u="sng" dirty="0" smtClean="0">
                <a:solidFill>
                  <a:srgbClr val="FFFFFF"/>
                </a:solidFill>
                <a:latin typeface="Unbounded" pitchFamily="34" charset="0"/>
              </a:rPr>
              <a:t>Logistics</a:t>
            </a:r>
            <a:r>
              <a:rPr lang="en-US" sz="3650" b="1" dirty="0" smtClean="0">
                <a:solidFill>
                  <a:srgbClr val="FFFFFF"/>
                </a:solidFill>
                <a:latin typeface="Unbounded" pitchFamily="34" charset="0"/>
              </a:rPr>
              <a:t> </a:t>
            </a:r>
            <a:r>
              <a:rPr lang="en-US" sz="3650" b="1" u="sng" dirty="0" smtClean="0">
                <a:solidFill>
                  <a:srgbClr val="FFFFFF"/>
                </a:solidFill>
                <a:latin typeface="Unbounded" pitchFamily="34" charset="0"/>
              </a:rPr>
              <a:t>Services</a:t>
            </a:r>
            <a:r>
              <a:rPr lang="en-US" sz="3650" b="1" dirty="0" smtClean="0">
                <a:solidFill>
                  <a:srgbClr val="FFFFFF"/>
                </a:solidFill>
                <a:latin typeface="Unbounded" pitchFamily="34" charset="0"/>
              </a:rPr>
              <a:t>!</a:t>
            </a:r>
            <a:endParaRPr lang="en-US" sz="3650" b="1" dirty="0"/>
          </a:p>
        </p:txBody>
      </p:sp>
      <p:sp>
        <p:nvSpPr>
          <p:cNvPr id="3" name="Text 1"/>
          <p:cNvSpPr/>
          <p:nvPr/>
        </p:nvSpPr>
        <p:spPr>
          <a:xfrm>
            <a:off x="436314" y="986267"/>
            <a:ext cx="11519877" cy="5734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u="sng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Consumer Goods &amp; E-Commerce</a:t>
            </a:r>
          </a:p>
          <a:p>
            <a:pPr algn="just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We are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certified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with FSSAI for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transporting</a:t>
            </a:r>
            <a:endParaRPr lang="en-US" dirty="0">
              <a:solidFill>
                <a:schemeClr val="bg2">
                  <a:lumMod val="90000"/>
                </a:schemeClr>
              </a:solidFill>
              <a:latin typeface="Cabin" panose="020B0604020202020204" charset="0"/>
            </a:endParaRPr>
          </a:p>
          <a:p>
            <a:pPr algn="just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Foods and Consumer products. We deploy</a:t>
            </a:r>
          </a:p>
          <a:p>
            <a:pPr algn="just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Double-Driver and Express Delivery to meet</a:t>
            </a:r>
          </a:p>
          <a:p>
            <a:pPr algn="just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extremely short TAT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times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for our e-</a:t>
            </a:r>
          </a:p>
          <a:p>
            <a:pPr algn="just"/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Commerce customers</a:t>
            </a:r>
            <a:r>
              <a:rPr lang="en-IN" dirty="0" smtClean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.</a:t>
            </a:r>
          </a:p>
          <a:p>
            <a:endParaRPr lang="en-US" dirty="0" smtClean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  <a:p>
            <a:endParaRPr lang="en-US" dirty="0" smtClean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  <a:p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en-IN" b="1" dirty="0" smtClean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bg2">
                  <a:lumMod val="90000"/>
                </a:schemeClr>
              </a:solidFill>
              <a:latin typeface="Cabin" panose="020B0604020202020204" charset="0"/>
            </a:endParaRPr>
          </a:p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Automobile Transportations</a:t>
            </a:r>
            <a:endParaRPr lang="en-IN" b="1" dirty="0" smtClean="0">
              <a:solidFill>
                <a:schemeClr val="bg2">
                  <a:lumMod val="90000"/>
                </a:schemeClr>
              </a:solidFill>
              <a:latin typeface="Cabin" panose="020B0604020202020204" charset="0"/>
            </a:endParaRP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We are the pioneers in Automobile</a:t>
            </a:r>
          </a:p>
          <a:p>
            <a:pPr algn="r"/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transportation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and are currently associated</a:t>
            </a: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with most major Auto and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Earth Moving OEM’s. We</a:t>
            </a:r>
            <a:endParaRPr lang="en-US" dirty="0">
              <a:solidFill>
                <a:schemeClr val="bg2">
                  <a:lumMod val="90000"/>
                </a:schemeClr>
              </a:solidFill>
            </a:endParaRP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deploy skilled and trained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Drivers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for loading,</a:t>
            </a: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unloading and movement of these vehicles to</a:t>
            </a: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ensure 99.9+%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on-time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and safe deliveries</a:t>
            </a:r>
            <a:r>
              <a:rPr lang="en-US" dirty="0"/>
              <a:t>.</a:t>
            </a:r>
            <a:endParaRPr lang="en-US" sz="1550" dirty="0">
              <a:solidFill>
                <a:schemeClr val="bg2">
                  <a:lumMod val="90000"/>
                </a:schemeClr>
              </a:solidFill>
              <a:latin typeface="Cabin" panose="020B0604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8086" y="2930822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3374938"/>
            <a:ext cx="291427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501887" y="3500835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01887" y="3853718"/>
            <a:ext cx="2914279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248280" y="3818372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30" y="6517110"/>
            <a:ext cx="1386960" cy="2819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68" y="3634884"/>
            <a:ext cx="6124903" cy="274226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0015" y="1103540"/>
            <a:ext cx="6400800" cy="2380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1470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2116" y="38281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u="sng" dirty="0" smtClean="0">
                <a:solidFill>
                  <a:srgbClr val="FFFFFF"/>
                </a:solidFill>
                <a:latin typeface="Unbounded" pitchFamily="34" charset="0"/>
              </a:rPr>
              <a:t>Logistics</a:t>
            </a:r>
            <a:r>
              <a:rPr lang="en-US" sz="3650" b="1" dirty="0" smtClean="0">
                <a:solidFill>
                  <a:srgbClr val="FFFFFF"/>
                </a:solidFill>
                <a:latin typeface="Unbounded" pitchFamily="34" charset="0"/>
              </a:rPr>
              <a:t> </a:t>
            </a:r>
            <a:r>
              <a:rPr lang="en-US" sz="3650" b="1" u="sng" dirty="0" smtClean="0">
                <a:solidFill>
                  <a:srgbClr val="FFFFFF"/>
                </a:solidFill>
                <a:latin typeface="Unbounded" pitchFamily="34" charset="0"/>
              </a:rPr>
              <a:t>Services</a:t>
            </a:r>
            <a:r>
              <a:rPr lang="en-US" sz="3650" b="1" dirty="0" smtClean="0">
                <a:solidFill>
                  <a:srgbClr val="FFFFFF"/>
                </a:solidFill>
                <a:latin typeface="Unbounded" pitchFamily="34" charset="0"/>
              </a:rPr>
              <a:t>!</a:t>
            </a:r>
            <a:endParaRPr lang="en-US" sz="3650" b="1" dirty="0"/>
          </a:p>
        </p:txBody>
      </p:sp>
      <p:sp>
        <p:nvSpPr>
          <p:cNvPr id="3" name="Text 1"/>
          <p:cNvSpPr/>
          <p:nvPr/>
        </p:nvSpPr>
        <p:spPr>
          <a:xfrm>
            <a:off x="538789" y="1064173"/>
            <a:ext cx="11519877" cy="5734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285750" indent="-285750" algn="r">
              <a:buFont typeface="Arial" panose="020B0604020202020204" pitchFamily="34" charset="0"/>
              <a:buChar char="•"/>
            </a:pPr>
            <a:r>
              <a:rPr lang="en-US" b="1" u="sng" dirty="0" smtClean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Projects &amp; Over Dimensional Cargo</a:t>
            </a:r>
            <a:endParaRPr lang="en-IN" b="1" u="sng" dirty="0">
              <a:solidFill>
                <a:schemeClr val="bg2">
                  <a:lumMod val="90000"/>
                </a:schemeClr>
              </a:solidFill>
              <a:latin typeface="Cabin" panose="020B0604020202020204" charset="0"/>
            </a:endParaRP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We specialize in project cargo and have</a:t>
            </a: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completed several projects for materials</a:t>
            </a:r>
          </a:p>
          <a:p>
            <a:pPr algn="r"/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including reactors, boilers, transformers,</a:t>
            </a: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wagons and heavy machinery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up to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remote</a:t>
            </a:r>
          </a:p>
          <a:p>
            <a:pPr algn="r"/>
            <a:r>
              <a:rPr lang="en-US" dirty="0" smtClean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site-locations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. We undertake the temporary</a:t>
            </a: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road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construction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and offloading these</a:t>
            </a:r>
          </a:p>
          <a:p>
            <a:pPr algn="r"/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project cargo using modern handling</a:t>
            </a:r>
          </a:p>
          <a:p>
            <a:pPr algn="r"/>
            <a:r>
              <a:rPr lang="en-IN" dirty="0">
                <a:solidFill>
                  <a:schemeClr val="bg2">
                    <a:lumMod val="90000"/>
                  </a:schemeClr>
                </a:solidFill>
                <a:latin typeface="Cabin" panose="020B0604020202020204" charset="0"/>
              </a:rPr>
              <a:t>equipment and skilled </a:t>
            </a:r>
            <a:r>
              <a:rPr lang="en-IN" dirty="0" smtClean="0">
                <a:solidFill>
                  <a:schemeClr val="accent3">
                    <a:lumMod val="20000"/>
                    <a:lumOff val="80000"/>
                  </a:schemeClr>
                </a:solidFill>
                <a:latin typeface="Cabin" panose="020B0604020202020204" charset="0"/>
              </a:rPr>
              <a:t>labour.</a:t>
            </a:r>
          </a:p>
          <a:p>
            <a:endParaRPr lang="en-US" dirty="0" smtClean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  <a:p>
            <a:endParaRPr lang="en-US" dirty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  <a:p>
            <a:endParaRPr lang="en-US" dirty="0" smtClean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  <a:p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smtClean="0">
                <a:solidFill>
                  <a:schemeClr val="bg2">
                    <a:lumMod val="90000"/>
                  </a:schemeClr>
                </a:solidFill>
              </a:rPr>
              <a:t>24x7 </a:t>
            </a:r>
            <a:r>
              <a:rPr lang="en-IN" b="1" dirty="0">
                <a:solidFill>
                  <a:schemeClr val="bg2">
                    <a:lumMod val="90000"/>
                  </a:schemeClr>
                </a:solidFill>
              </a:rPr>
              <a:t>Logistics Control Tower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We have developed in-house LCT to meet the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requirement of our Customers and to manage</a:t>
            </a:r>
          </a:p>
          <a:p>
            <a:r>
              <a:rPr lang="en-IN" dirty="0" smtClean="0">
                <a:solidFill>
                  <a:schemeClr val="bg2">
                    <a:lumMod val="90000"/>
                  </a:schemeClr>
                </a:solidFill>
              </a:rPr>
              <a:t>contingencies.</a:t>
            </a:r>
          </a:p>
          <a:p>
            <a:r>
              <a:rPr lang="en-IN" b="1" dirty="0">
                <a:solidFill>
                  <a:schemeClr val="bg2">
                    <a:lumMod val="90000"/>
                  </a:schemeClr>
                </a:solidFill>
              </a:rPr>
              <a:t>GPS &amp; Tracking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All our vehicles are GPS enabled with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Geo fencing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,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Cloud SaaS, GPS, </a:t>
            </a:r>
            <a:r>
              <a:rPr lang="en-US" dirty="0" smtClean="0">
                <a:solidFill>
                  <a:schemeClr val="bg2">
                    <a:lumMod val="90000"/>
                  </a:schemeClr>
                </a:solidFill>
              </a:rPr>
              <a:t>Analytics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and alerts. The GPS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can be integrated with customers Tracking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systems using APIs. Hired vehicles can be tracked</a:t>
            </a:r>
          </a:p>
          <a:p>
            <a:r>
              <a:rPr lang="en-US" dirty="0">
                <a:solidFill>
                  <a:schemeClr val="bg2">
                    <a:lumMod val="90000"/>
                  </a:schemeClr>
                </a:solidFill>
              </a:rPr>
              <a:t>using phone Tracking so􀅌ware.</a:t>
            </a:r>
            <a:endParaRPr lang="en-IN" b="1" dirty="0">
              <a:solidFill>
                <a:schemeClr val="bg2">
                  <a:lumMod val="90000"/>
                </a:schemeClr>
              </a:solidFill>
              <a:latin typeface="Cabin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 smtClean="0">
              <a:solidFill>
                <a:schemeClr val="accent3">
                  <a:lumMod val="20000"/>
                  <a:lumOff val="80000"/>
                </a:schemeClr>
              </a:solidFill>
              <a:latin typeface="Cabin" panose="020B0604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8086" y="2930822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3374938"/>
            <a:ext cx="291427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501887" y="3500835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01887" y="3853718"/>
            <a:ext cx="2914279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248280" y="3818372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886" y="6576036"/>
            <a:ext cx="1386960" cy="2819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788" y="1029083"/>
            <a:ext cx="7502457" cy="256543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794126"/>
            <a:ext cx="6889531" cy="292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070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2116" y="38281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3200" b="1" u="sng" dirty="0" smtClean="0">
                <a:solidFill>
                  <a:srgbClr val="FFFFFF"/>
                </a:solidFill>
                <a:latin typeface="Unbounded" pitchFamily="34" charset="0"/>
              </a:rPr>
              <a:t>Our Valuable Clients</a:t>
            </a:r>
            <a:endParaRPr lang="en-US" sz="3200" b="1" u="sng" dirty="0"/>
          </a:p>
        </p:txBody>
      </p:sp>
      <p:sp>
        <p:nvSpPr>
          <p:cNvPr id="5" name="Text 2"/>
          <p:cNvSpPr/>
          <p:nvPr/>
        </p:nvSpPr>
        <p:spPr>
          <a:xfrm>
            <a:off x="698086" y="2930822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3374938"/>
            <a:ext cx="2914279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501887" y="3500835"/>
            <a:ext cx="29142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501887" y="3853718"/>
            <a:ext cx="2914279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8248280" y="3818372"/>
            <a:ext cx="291437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8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6886" y="6576036"/>
            <a:ext cx="1386960" cy="2819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701" y="1174068"/>
            <a:ext cx="1518140" cy="12222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748" y="1120316"/>
            <a:ext cx="1590183" cy="1368213"/>
          </a:xfrm>
          <a:prstGeom prst="rect">
            <a:avLst/>
          </a:prstGeom>
        </p:spPr>
      </p:pic>
      <p:pic>
        <p:nvPicPr>
          <p:cNvPr id="1026" name="Picture 2" descr="Fab-Tool Industries | LinkedI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838" y="1174068"/>
            <a:ext cx="1669010" cy="131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487" y="1174068"/>
            <a:ext cx="1558651" cy="1314461"/>
          </a:xfrm>
          <a:prstGeom prst="rect">
            <a:avLst/>
          </a:prstGeom>
        </p:spPr>
      </p:pic>
      <p:pic>
        <p:nvPicPr>
          <p:cNvPr id="1028" name="Picture 4" descr="Encore Heavy Machinery Pvt Ltd | LinkedI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3694" y="1172467"/>
            <a:ext cx="1787251" cy="1316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4701" y="3054388"/>
            <a:ext cx="1518140" cy="1155005"/>
          </a:xfrm>
          <a:prstGeom prst="rect">
            <a:avLst/>
          </a:prstGeom>
        </p:spPr>
      </p:pic>
      <p:pic>
        <p:nvPicPr>
          <p:cNvPr id="1030" name="Picture 6" descr="Infinitude International Pvt Ltd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1485" y="4953248"/>
            <a:ext cx="1355970" cy="118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4747" y="3054387"/>
            <a:ext cx="1590183" cy="115500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4964" y="3054386"/>
            <a:ext cx="1669012" cy="115500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47961" y="3054388"/>
            <a:ext cx="1355970" cy="115500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9487" y="3054388"/>
            <a:ext cx="1558651" cy="115500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13694" y="3054388"/>
            <a:ext cx="1787251" cy="1155005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2972" y="4943309"/>
            <a:ext cx="1529869" cy="1180734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84749" y="4953248"/>
            <a:ext cx="1645362" cy="117079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68277" y="1174068"/>
            <a:ext cx="1638780" cy="1314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3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7453"/>
            <a:ext cx="10795524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 Presence</a:t>
            </a:r>
            <a:endParaRPr lang="en-US" sz="2250" u="sng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940" y="1165622"/>
            <a:ext cx="5031581" cy="503158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14184" y="1129209"/>
            <a:ext cx="735391" cy="184646"/>
          </a:xfrm>
          <a:prstGeom prst="roundRect">
            <a:avLst>
              <a:gd name="adj" fmla="val 7900"/>
            </a:avLst>
          </a:prstGeom>
          <a:solidFill>
            <a:srgbClr val="054842"/>
          </a:solidFill>
          <a:ln/>
        </p:spPr>
      </p:sp>
      <p:sp>
        <p:nvSpPr>
          <p:cNvPr id="5" name="Text 2"/>
          <p:cNvSpPr/>
          <p:nvPr/>
        </p:nvSpPr>
        <p:spPr>
          <a:xfrm>
            <a:off x="7987108" y="1165622"/>
            <a:ext cx="1199128" cy="11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HEAD OFFICE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914184" y="1343422"/>
            <a:ext cx="3585676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Bangalore, Karnataka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914184" y="1635720"/>
            <a:ext cx="3585676" cy="12700"/>
          </a:xfrm>
          <a:prstGeom prst="roundRect">
            <a:avLst>
              <a:gd name="adj" fmla="val 4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914184" y="1762026"/>
            <a:ext cx="912492" cy="184646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87108" y="1798439"/>
            <a:ext cx="1376229" cy="11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BRANCH OFFICES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901484" y="2017216"/>
            <a:ext cx="3598376" cy="5910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61123" y="2029916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Navi Mumbai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061123" y="2282627"/>
            <a:ext cx="3438737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D-152, First Floor, Disma Complex, Kalamboli, Navi Mumbai – 410 218.</a:t>
            </a:r>
            <a:endParaRPr lang="en-US" sz="9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901484" y="2730996"/>
            <a:ext cx="3598376" cy="5910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1123" y="2743696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Vapi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061123" y="2996406"/>
            <a:ext cx="3438737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305, Brahmdev Complex, 3rd Floor, opp. Brahmdev Mandir, N.H. 8, Balitha Vapi – 396 191.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901484" y="3444776"/>
            <a:ext cx="3598376" cy="59104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61123" y="3457476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Raipur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061123" y="3710186"/>
            <a:ext cx="3438737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Shop No. 6, Sinha Complex, Ganpat Chowk, Ring Road No. 2, Heerapur, Raipur – 492 099 (C.G.)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901484" y="4158555"/>
            <a:ext cx="3598376" cy="59104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61123" y="4171255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Gurugram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061123" y="4423966"/>
            <a:ext cx="3438737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IMT Road, Near Haryana Gramin Bank Hayatpur, Distt. Gurugram (Hr.) – 122505.</a:t>
            </a:r>
            <a:endParaRPr lang="en-US" sz="9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901484" y="4872335"/>
            <a:ext cx="3598376" cy="59104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061123" y="4885035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8061123" y="5137745"/>
            <a:ext cx="3438737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NH-33 Beside Sahara City, Near Kumrum Basti, Pardih Mango, Jamshedpur – 831 012.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7914184" y="5533926"/>
            <a:ext cx="3585676" cy="663277"/>
          </a:xfrm>
          <a:prstGeom prst="roundRect">
            <a:avLst>
              <a:gd name="adj" fmla="val 2749"/>
            </a:avLst>
          </a:prstGeom>
          <a:solidFill>
            <a:srgbClr val="08786D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5724" y="5646241"/>
            <a:ext cx="151900" cy="12154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309164" y="5630863"/>
            <a:ext cx="3069156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Service Coverage:</a:t>
            </a:r>
            <a:r>
              <a:rPr lang="en-US" sz="9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Gujarat, Maharashtra, M.P., Rajasthan, Chhattisgarh, Odisha, Jharkhand, Bihar, West Bengal, Assam, Mumbai &amp; East Zone.</a:t>
            </a:r>
            <a:endParaRPr lang="en-US" sz="9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30" y="6517110"/>
            <a:ext cx="1386960" cy="281964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7453"/>
            <a:ext cx="10795524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</a:t>
            </a: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sz="22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Presence</a:t>
            </a:r>
            <a:endParaRPr lang="en-US" sz="2250" u="sng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68" y="1129209"/>
            <a:ext cx="6157609" cy="45322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14184" y="1129209"/>
            <a:ext cx="735391" cy="184646"/>
          </a:xfrm>
          <a:prstGeom prst="roundRect">
            <a:avLst>
              <a:gd name="adj" fmla="val 7900"/>
            </a:avLst>
          </a:prstGeom>
          <a:solidFill>
            <a:srgbClr val="054842"/>
          </a:solidFill>
          <a:ln/>
        </p:spPr>
      </p:sp>
      <p:sp>
        <p:nvSpPr>
          <p:cNvPr id="6" name="Text 3"/>
          <p:cNvSpPr/>
          <p:nvPr/>
        </p:nvSpPr>
        <p:spPr>
          <a:xfrm>
            <a:off x="7914184" y="1343422"/>
            <a:ext cx="3585676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 smtClean="0">
                <a:solidFill>
                  <a:srgbClr val="FFFFFF"/>
                </a:solidFill>
                <a:latin typeface="Unbounded" pitchFamily="34" charset="0"/>
              </a:rPr>
              <a:t>Serving Worldwide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914184" y="1635720"/>
            <a:ext cx="3585676" cy="12700"/>
          </a:xfrm>
          <a:prstGeom prst="roundRect">
            <a:avLst>
              <a:gd name="adj" fmla="val 4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914184" y="1762026"/>
            <a:ext cx="912492" cy="184646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0A988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87108" y="1798439"/>
            <a:ext cx="1376229" cy="11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BRANCH OFFICES</a:t>
            </a:r>
            <a:endParaRPr lang="en-US" sz="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901484" y="2017216"/>
            <a:ext cx="3598376" cy="59104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61123" y="2029916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 smtClean="0">
                <a:solidFill>
                  <a:srgbClr val="CAD6DE"/>
                </a:solidFill>
                <a:latin typeface="Unbounded" pitchFamily="34" charset="0"/>
              </a:rPr>
              <a:t>Chennai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061123" y="2282627"/>
            <a:ext cx="3438737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950" dirty="0">
                <a:solidFill>
                  <a:schemeClr val="bg2"/>
                </a:solidFill>
              </a:rPr>
              <a:t>Address -No-242/241,22nd Cross street, </a:t>
            </a:r>
            <a:r>
              <a:rPr lang="en-US" sz="950" dirty="0" err="1">
                <a:solidFill>
                  <a:schemeClr val="bg2"/>
                </a:solidFill>
              </a:rPr>
              <a:t>Sakthivel</a:t>
            </a:r>
            <a:r>
              <a:rPr lang="en-US" sz="950" dirty="0">
                <a:solidFill>
                  <a:schemeClr val="bg2"/>
                </a:solidFill>
              </a:rPr>
              <a:t> Nagar main road , </a:t>
            </a:r>
            <a:r>
              <a:rPr lang="en-US" sz="950" dirty="0" err="1">
                <a:solidFill>
                  <a:schemeClr val="bg2"/>
                </a:solidFill>
              </a:rPr>
              <a:t>Puzhal</a:t>
            </a:r>
            <a:r>
              <a:rPr lang="en-US" sz="950" dirty="0">
                <a:solidFill>
                  <a:schemeClr val="bg2"/>
                </a:solidFill>
              </a:rPr>
              <a:t> , Chennai -600066</a:t>
            </a: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901484" y="2730996"/>
            <a:ext cx="3598376" cy="5910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1123" y="2743696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 smtClean="0">
                <a:solidFill>
                  <a:srgbClr val="CAD6DE"/>
                </a:solidFill>
                <a:latin typeface="Unbounded" pitchFamily="34" charset="0"/>
              </a:rPr>
              <a:t>Hyderabad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8061123" y="2996406"/>
            <a:ext cx="3438737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Plot number 6 . 2nd floor beside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kar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plaza 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muthangi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village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Patancheru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mandal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disst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Sangareddy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502300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telangana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9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901484" y="3444776"/>
            <a:ext cx="3598376" cy="59104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61123" y="3457476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 smtClean="0">
                <a:solidFill>
                  <a:srgbClr val="CAD6DE"/>
                </a:solidFill>
                <a:latin typeface="Unbounded" pitchFamily="34" charset="0"/>
              </a:rPr>
              <a:t>Nagpur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8061123" y="3710186"/>
            <a:ext cx="3438737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Office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Nishan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crane Building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bhawani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kata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kapsi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bhandara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road Nagpur -440008 (MH).</a:t>
            </a:r>
            <a:endParaRPr lang="en-US" sz="9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7901484" y="4158555"/>
            <a:ext cx="3598376" cy="59104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61123" y="4171255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 smtClean="0">
                <a:solidFill>
                  <a:srgbClr val="CAD6DE"/>
                </a:solidFill>
                <a:latin typeface="Unbounded" pitchFamily="34" charset="0"/>
              </a:rPr>
              <a:t>Madhya Pradesh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8061123" y="4423966"/>
            <a:ext cx="3438737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7000"/>
              </a:lnSpc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</a:rPr>
              <a:t> Service near </a:t>
            </a:r>
            <a:r>
              <a:rPr lang="en-US" sz="950" dirty="0" err="1" smtClean="0">
                <a:solidFill>
                  <a:srgbClr val="CAD6DE"/>
                </a:solidFill>
                <a:latin typeface="Cabin" pitchFamily="34" charset="0"/>
              </a:rPr>
              <a:t>Madhav</a:t>
            </a:r>
            <a:r>
              <a:rPr lang="en-US" sz="950" dirty="0" smtClean="0">
                <a:solidFill>
                  <a:srgbClr val="CAD6DE"/>
                </a:solidFill>
                <a:latin typeface="Cabin" pitchFamily="34" charset="0"/>
              </a:rPr>
              <a:t> 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</a:rPr>
              <a:t>Nagar Gate Jabalpur Road </a:t>
            </a:r>
            <a:r>
              <a:rPr lang="en-US" sz="950" dirty="0" err="1" smtClean="0">
                <a:solidFill>
                  <a:srgbClr val="CAD6DE"/>
                </a:solidFill>
                <a:latin typeface="Cabin" pitchFamily="34" charset="0"/>
              </a:rPr>
              <a:t>Katni</a:t>
            </a:r>
            <a:r>
              <a:rPr lang="en-US" sz="950" dirty="0" smtClean="0">
                <a:solidFill>
                  <a:srgbClr val="CAD6DE"/>
                </a:solidFill>
                <a:latin typeface="Cabin" pitchFamily="34" charset="0"/>
              </a:rPr>
              <a:t>, MP 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</a:rPr>
              <a:t>483501.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8061123" y="4885035"/>
            <a:ext cx="3438737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Jamshedpur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7914184" y="4810920"/>
            <a:ext cx="3585676" cy="663277"/>
          </a:xfrm>
          <a:prstGeom prst="roundRect">
            <a:avLst>
              <a:gd name="adj" fmla="val 2749"/>
            </a:avLst>
          </a:prstGeom>
          <a:solidFill>
            <a:srgbClr val="08786D"/>
          </a:solidFill>
          <a:ln/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85173" y="4913609"/>
            <a:ext cx="151900" cy="121543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208062" y="4913674"/>
            <a:ext cx="3069156" cy="469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Service Coverage:</a:t>
            </a:r>
            <a:r>
              <a:rPr lang="en-US" sz="9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Gujarat, Maharashtra, M.P., Rajasthan, Chhattisgarh, Odisha, Jharkhand, Bihar, West Bengal, Assam, Mumbai &amp; East Zone.</a:t>
            </a:r>
            <a:endParaRPr lang="en-US" sz="9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30" y="6517110"/>
            <a:ext cx="1386960" cy="28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1079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70" y="596801"/>
            <a:ext cx="5499514" cy="27350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3453408"/>
            <a:ext cx="10795524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Our Strengths</a:t>
            </a:r>
            <a:endParaRPr lang="en-US" sz="2250" u="sng" dirty="0"/>
          </a:p>
        </p:txBody>
      </p:sp>
      <p:sp>
        <p:nvSpPr>
          <p:cNvPr id="4" name="Shape 1"/>
          <p:cNvSpPr/>
          <p:nvPr/>
        </p:nvSpPr>
        <p:spPr>
          <a:xfrm>
            <a:off x="698086" y="3921919"/>
            <a:ext cx="5360754" cy="779066"/>
          </a:xfrm>
          <a:prstGeom prst="roundRect">
            <a:avLst>
              <a:gd name="adj" fmla="val 2340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819626" y="4043462"/>
            <a:ext cx="5117674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Diverse Fleet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19626" y="4266505"/>
            <a:ext cx="511767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From small pick-up vehicles for local runs to 32 FT SXL/MXL </a:t>
            </a:r>
            <a:r>
              <a:rPr lang="en-US" sz="95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containers, JCB SXL &amp; MXL trucks</a:t>
            </a:r>
          </a:p>
          <a:p>
            <a:pPr marL="0" indent="0" algn="l">
              <a:lnSpc>
                <a:spcPct val="107000"/>
              </a:lnSpc>
              <a:buNone/>
            </a:pPr>
            <a:r>
              <a:rPr lang="en-US" sz="95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 heavy ODC trailers.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132855" y="3921919"/>
            <a:ext cx="5360754" cy="779066"/>
          </a:xfrm>
          <a:prstGeom prst="roundRect">
            <a:avLst>
              <a:gd name="adj" fmla="val 2340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6254395" y="4043462"/>
            <a:ext cx="5117674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GPS Tracking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54395" y="4266505"/>
            <a:ext cx="5117674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All vehicles equipped with live GPS, providing clients complete transparency and real-time ETA updates.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98086" y="4775002"/>
            <a:ext cx="5360754" cy="779066"/>
          </a:xfrm>
          <a:prstGeom prst="roundRect">
            <a:avLst>
              <a:gd name="adj" fmla="val 2340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819626" y="4896545"/>
            <a:ext cx="5117674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Own Fleet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9626" y="5119588"/>
            <a:ext cx="511767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 are not just agents — we are fleet owners, giving you direct control over pricing and timelines.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32855" y="4775002"/>
            <a:ext cx="5360754" cy="779066"/>
          </a:xfrm>
          <a:prstGeom prst="roundRect">
            <a:avLst>
              <a:gd name="adj" fmla="val 2340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6254395" y="4896545"/>
            <a:ext cx="5117674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ODC &amp; Container Specialists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54395" y="5119588"/>
            <a:ext cx="5117674" cy="312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Proven track record in handling complex over-dimensional consignments and secure containerized cargo.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98086" y="5628084"/>
            <a:ext cx="5360754" cy="622598"/>
          </a:xfrm>
          <a:prstGeom prst="roundRect">
            <a:avLst>
              <a:gd name="adj" fmla="val 2929"/>
            </a:avLst>
          </a:prstGeom>
          <a:solidFill>
            <a:srgbClr val="304755"/>
          </a:solidFill>
          <a:ln/>
        </p:spPr>
      </p:sp>
      <p:sp>
        <p:nvSpPr>
          <p:cNvPr id="17" name="Text 14"/>
          <p:cNvSpPr/>
          <p:nvPr/>
        </p:nvSpPr>
        <p:spPr>
          <a:xfrm>
            <a:off x="819626" y="5749627"/>
            <a:ext cx="5117674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Pan-India Reach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9626" y="5972671"/>
            <a:ext cx="511767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extensive network spanning the East, West, North, and South zones of India.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132855" y="5628084"/>
            <a:ext cx="5360754" cy="622598"/>
          </a:xfrm>
          <a:prstGeom prst="roundRect">
            <a:avLst>
              <a:gd name="adj" fmla="val 2929"/>
            </a:avLst>
          </a:prstGeom>
          <a:solidFill>
            <a:srgbClr val="304755"/>
          </a:solidFill>
          <a:ln/>
        </p:spPr>
      </p:sp>
      <p:sp>
        <p:nvSpPr>
          <p:cNvPr id="20" name="Text 17"/>
          <p:cNvSpPr/>
          <p:nvPr/>
        </p:nvSpPr>
        <p:spPr>
          <a:xfrm>
            <a:off x="6254395" y="5749627"/>
            <a:ext cx="5117674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Timely Delivery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54395" y="5972671"/>
            <a:ext cx="5117674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commitment to daily services and on-time dispatch — every time.</a:t>
            </a:r>
            <a:endParaRPr lang="en-US" sz="95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897" y="593106"/>
            <a:ext cx="5232150" cy="273875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30" y="6517110"/>
            <a:ext cx="1386960" cy="281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58341"/>
            <a:ext cx="10795524" cy="568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Get In Touch</a:t>
            </a:r>
            <a:endParaRPr lang="en-US" sz="3550" u="sng" dirty="0"/>
          </a:p>
        </p:txBody>
      </p:sp>
      <p:sp>
        <p:nvSpPr>
          <p:cNvPr id="3" name="Shape 1"/>
          <p:cNvSpPr/>
          <p:nvPr/>
        </p:nvSpPr>
        <p:spPr>
          <a:xfrm>
            <a:off x="558884" y="1556967"/>
            <a:ext cx="5440425" cy="4572893"/>
          </a:xfrm>
          <a:prstGeom prst="roundRect">
            <a:avLst>
              <a:gd name="adj" fmla="val 634"/>
            </a:avLst>
          </a:prstGeom>
          <a:solidFill>
            <a:srgbClr val="001F3F"/>
          </a:solidFill>
          <a:ln/>
        </p:spPr>
      </p:sp>
      <p:sp>
        <p:nvSpPr>
          <p:cNvPr id="4" name="Text 2"/>
          <p:cNvSpPr/>
          <p:nvPr/>
        </p:nvSpPr>
        <p:spPr>
          <a:xfrm>
            <a:off x="752059" y="1894582"/>
            <a:ext cx="5054077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Corporate Head Office</a:t>
            </a:r>
            <a:endParaRPr lang="en-US" sz="1750" u="sng" dirty="0"/>
          </a:p>
        </p:txBody>
      </p:sp>
      <p:sp>
        <p:nvSpPr>
          <p:cNvPr id="5" name="Text 3"/>
          <p:cNvSpPr/>
          <p:nvPr/>
        </p:nvSpPr>
        <p:spPr>
          <a:xfrm>
            <a:off x="752059" y="2365772"/>
            <a:ext cx="5054077" cy="79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Shekhawati </a:t>
            </a:r>
            <a:r>
              <a:rPr lang="en-US" sz="1200" b="1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Logistics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1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No.23, 1</a:t>
            </a:r>
            <a:r>
              <a:rPr lang="en-US" sz="1200" b="1" baseline="300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st</a:t>
            </a:r>
            <a:r>
              <a:rPr lang="en-US" sz="1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Floor, Dr. </a:t>
            </a:r>
            <a:r>
              <a:rPr lang="en-US" sz="1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Devaraj</a:t>
            </a:r>
            <a:r>
              <a:rPr lang="en-US" sz="1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URS Truck Terminal, </a:t>
            </a:r>
            <a:r>
              <a:rPr lang="en-US" sz="1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Dasanapura</a:t>
            </a:r>
            <a:r>
              <a:rPr lang="en-US" sz="1200" b="1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1200" b="1" dirty="0" err="1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Nelamangala</a:t>
            </a:r>
            <a:r>
              <a:rPr lang="en-US" sz="1200" b="1" dirty="0" smtClean="0"/>
              <a:t>,</a:t>
            </a:r>
            <a:endParaRPr lang="en-US" sz="1200" b="1" dirty="0"/>
          </a:p>
          <a:p>
            <a:pPr marL="0" indent="0" algn="l">
              <a:lnSpc>
                <a:spcPct val="131000"/>
              </a:lnSpc>
              <a:buNone/>
            </a:pPr>
            <a:r>
              <a:rPr lang="en-US" sz="120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Bangalore, </a:t>
            </a:r>
            <a:r>
              <a:rPr lang="en-US" sz="1200" b="1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Karnataka - 562162</a:t>
            </a:r>
            <a:endParaRPr lang="en-US" sz="1200" b="1" dirty="0"/>
          </a:p>
        </p:txBody>
      </p:sp>
      <p:sp>
        <p:nvSpPr>
          <p:cNvPr id="6" name="Shape 4"/>
          <p:cNvSpPr/>
          <p:nvPr/>
        </p:nvSpPr>
        <p:spPr>
          <a:xfrm>
            <a:off x="752059" y="3233341"/>
            <a:ext cx="5054077" cy="25400"/>
          </a:xfrm>
          <a:prstGeom prst="roundRect">
            <a:avLst>
              <a:gd name="adj" fmla="val 4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52059" y="3517503"/>
            <a:ext cx="5054077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Phone</a:t>
            </a:r>
            <a:endParaRPr lang="en-US" sz="1750" u="sng" dirty="0"/>
          </a:p>
        </p:txBody>
      </p:sp>
      <p:sp>
        <p:nvSpPr>
          <p:cNvPr id="8" name="Text 6"/>
          <p:cNvSpPr/>
          <p:nvPr/>
        </p:nvSpPr>
        <p:spPr>
          <a:xfrm>
            <a:off x="752059" y="3988693"/>
            <a:ext cx="5663661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 smtClean="0">
                <a:solidFill>
                  <a:srgbClr val="CAD6DE"/>
                </a:solidFill>
                <a:latin typeface="Cabin" pitchFamily="34" charset="0"/>
              </a:rPr>
              <a:t>9008898260 / 9886966001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2059" y="4551859"/>
            <a:ext cx="5054077" cy="25400"/>
          </a:xfrm>
          <a:prstGeom prst="roundRect">
            <a:avLst>
              <a:gd name="adj" fmla="val 4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52059" y="4836021"/>
            <a:ext cx="5054077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Email</a:t>
            </a:r>
            <a:endParaRPr lang="en-US" sz="1750" u="sng" dirty="0"/>
          </a:p>
        </p:txBody>
      </p:sp>
      <p:sp>
        <p:nvSpPr>
          <p:cNvPr id="11" name="Text 9"/>
          <p:cNvSpPr/>
          <p:nvPr/>
        </p:nvSpPr>
        <p:spPr>
          <a:xfrm>
            <a:off x="752059" y="5307211"/>
            <a:ext cx="5663661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dirty="0" smtClean="0">
                <a:solidFill>
                  <a:srgbClr val="CAD6DE"/>
                </a:solidFill>
                <a:latin typeface="Cabin" pitchFamily="34" charset="0"/>
              </a:rPr>
              <a:t>bng@shekhawatilogistics.com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1500" dirty="0" smtClean="0">
                <a:solidFill>
                  <a:srgbClr val="CAD6DE"/>
                </a:solidFill>
                <a:latin typeface="Cabin" pitchFamily="34" charset="0"/>
              </a:rPr>
              <a:t>shekhawatilogisticsbng@gmail.com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37935" y="1894582"/>
            <a:ext cx="5162024" cy="284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u="sng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Branch </a:t>
            </a:r>
            <a:r>
              <a:rPr lang="en-US" sz="1750" b="1" u="sng" dirty="0" smtClean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Contacts:</a:t>
            </a:r>
            <a:endParaRPr lang="en-US" sz="1750" b="1" u="sng" dirty="0"/>
          </a:p>
        </p:txBody>
      </p:sp>
      <p:sp>
        <p:nvSpPr>
          <p:cNvPr id="13" name="Text 11"/>
          <p:cNvSpPr/>
          <p:nvPr/>
        </p:nvSpPr>
        <p:spPr>
          <a:xfrm>
            <a:off x="6337935" y="2178646"/>
            <a:ext cx="5162024" cy="3306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31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Navi Mumbai – 9284956732 / 7284956732</a:t>
            </a:r>
          </a:p>
          <a:p>
            <a:pPr marL="285750" indent="-285750" algn="l">
              <a:lnSpc>
                <a:spcPct val="131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Raipur – 7688833385 / 9079869068</a:t>
            </a:r>
          </a:p>
          <a:p>
            <a:pPr marL="285750" indent="-285750" algn="l">
              <a:lnSpc>
                <a:spcPct val="131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Vapi - 9694254008</a:t>
            </a:r>
          </a:p>
          <a:p>
            <a:pPr marL="285750" indent="-285750" algn="l">
              <a:lnSpc>
                <a:spcPct val="131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Gurugram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– 9899580721 / 9312580721</a:t>
            </a:r>
            <a:endParaRPr 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 algn="l">
              <a:lnSpc>
                <a:spcPct val="131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Jamshedpur – 9334611977/ 9771234905</a:t>
            </a:r>
          </a:p>
          <a:p>
            <a:pPr marL="285750" indent="-285750">
              <a:lnSpc>
                <a:spcPct val="131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Chennai 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- 8122570776</a:t>
            </a:r>
            <a:endParaRPr lang="en-US" sz="1600" dirty="0" smtClean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>
              <a:lnSpc>
                <a:spcPct val="131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Hyderabad 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- 9553015015</a:t>
            </a:r>
            <a:endParaRPr lang="en-US" sz="1600" dirty="0" smtClean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>
              <a:lnSpc>
                <a:spcPct val="131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Nagpur – 9649325770 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/  8319395095</a:t>
            </a:r>
            <a:endParaRPr lang="en-US" sz="1600" dirty="0" smtClean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285750" indent="-285750">
              <a:lnSpc>
                <a:spcPct val="131000"/>
              </a:lnSpc>
              <a:buFont typeface="Wingdings" panose="05000000000000000000" pitchFamily="2" charset="2"/>
              <a:buChar char="v"/>
            </a:pPr>
            <a:r>
              <a:rPr lang="en-US" sz="1600" dirty="0" smtClean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Madhya Pradesh </a:t>
            </a: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-  9752588725</a:t>
            </a:r>
            <a:endParaRPr lang="en-US" sz="1600" dirty="0" smtClean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ct val="131000"/>
              </a:lnSpc>
              <a:buNone/>
            </a:pP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62965" y="4058742"/>
            <a:ext cx="5771609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31586" y="5327153"/>
            <a:ext cx="5162024" cy="25400"/>
          </a:xfrm>
          <a:prstGeom prst="roundRect">
            <a:avLst>
              <a:gd name="adj" fmla="val 4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275412" y="5484688"/>
            <a:ext cx="5162024" cy="784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4900" dirty="0"/>
          </a:p>
        </p:txBody>
      </p:sp>
      <p:sp>
        <p:nvSpPr>
          <p:cNvPr id="19" name="Text 17"/>
          <p:cNvSpPr/>
          <p:nvPr/>
        </p:nvSpPr>
        <p:spPr>
          <a:xfrm>
            <a:off x="6337934" y="6211391"/>
            <a:ext cx="5771609" cy="304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0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Delivering Trust Across India</a:t>
            </a:r>
            <a:endParaRPr lang="en-US" sz="1500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130" y="6517110"/>
            <a:ext cx="1386960" cy="2819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1035</Words>
  <Application>Microsoft Office PowerPoint</Application>
  <PresentationFormat>Widescreen</PresentationFormat>
  <Paragraphs>164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Cabin Bold</vt:lpstr>
      <vt:lpstr>Unbounded</vt:lpstr>
      <vt:lpstr>Cabin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Shivam</dc:creator>
  <cp:lastModifiedBy>Shivam</cp:lastModifiedBy>
  <cp:revision>29</cp:revision>
  <dcterms:created xsi:type="dcterms:W3CDTF">2026-09-24T10:42:15Z</dcterms:created>
  <dcterms:modified xsi:type="dcterms:W3CDTF">2026-09-30T13:14:03Z</dcterms:modified>
</cp:coreProperties>
</file>